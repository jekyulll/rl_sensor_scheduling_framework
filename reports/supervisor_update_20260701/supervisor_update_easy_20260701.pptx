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07899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03A43"/>
                </a:solidFill>
                <a:latin typeface="Noto Sans CJK SC"/>
              </a:rPr>
              <a:t>实验主线从“传感器组合”改成“有限电量下选专家”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06424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>
                <a:solidFill>
                  <a:srgbClr val="566273"/>
                </a:solidFill>
                <a:latin typeface="Noto Sans CJK SC"/>
              </a:rPr>
              <a:t>核心变化：把固定方案的解释空间压小，让“动态调度是否真的有用”变得可检验。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61872"/>
            <a:ext cx="3456432" cy="2212848"/>
          </a:xfrm>
          <a:prstGeom prst="roundRect">
            <a:avLst/>
          </a:prstGeom>
          <a:solidFill>
            <a:srgbClr val="F5E1D2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6072" y="1426464"/>
            <a:ext cx="2057400" cy="292608"/>
          </a:xfrm>
          <a:prstGeom prst="roundRect">
            <a:avLst/>
          </a:prstGeom>
          <a:solidFill>
            <a:srgbClr val="B85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SC"/>
              </a:rPr>
              <a:t>原来的实验容易被这样解释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847088"/>
            <a:ext cx="3054096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334"/>
                </a:solidFill>
                <a:latin typeface="Noto Sans CJK SC"/>
              </a:rPr>
              <a:t>多个传感器一起竞争（有些版本里，固定开某一组已经很强）。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334"/>
                </a:solidFill>
                <a:latin typeface="Noto Sans CJK SC"/>
              </a:rPr>
              <a:t>导师可能会问：RL 是在“按天气调度”，还是只找到了一个固定好组合？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261872"/>
            <a:ext cx="3456432" cy="2212848"/>
          </a:xfrm>
          <a:prstGeom prst="roundRect">
            <a:avLst/>
          </a:prstGeom>
          <a:solidFill>
            <a:srgbClr val="DDEFE7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25112" y="1426464"/>
            <a:ext cx="2057400" cy="292608"/>
          </a:xfrm>
          <a:prstGeom prst="roundRect">
            <a:avLst/>
          </a:prstGeom>
          <a:solidFill>
            <a:srgbClr val="277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SC"/>
              </a:rPr>
              <a:t>新实验更接近真实低功耗站点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847088"/>
            <a:ext cx="3054096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334"/>
                </a:solidFill>
                <a:latin typeface="Noto Sans CJK SC"/>
              </a:rPr>
              <a:t>基础气象一直保留（低功耗背景）；高功耗专家仪器一次只能启用一台（激光、FC4、表面红外三选一）。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334"/>
                </a:solidFill>
                <a:latin typeface="Noto Sans CJK SC"/>
              </a:rPr>
              <a:t>不同天气事件需要不同专家，固定组合不再容易解释全部结果。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261872"/>
            <a:ext cx="3456432" cy="2212848"/>
          </a:xfrm>
          <a:prstGeom prst="roundRect">
            <a:avLst/>
          </a:prstGeom>
          <a:solidFill>
            <a:srgbClr val="E2EEF4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4152" y="1426464"/>
            <a:ext cx="2057400" cy="292608"/>
          </a:xfrm>
          <a:prstGeom prst="roundRect">
            <a:avLst/>
          </a:prstGeom>
          <a:solidFill>
            <a:srgbClr val="346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SC"/>
              </a:rPr>
              <a:t>验证方式也更严格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8" y="1847088"/>
            <a:ext cx="3054096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334"/>
                </a:solidFill>
                <a:latin typeface="Noto Sans CJK SC"/>
              </a:rPr>
              <a:t>同一批 24 次重复实验比较：固定方案、人工规则、PD-PPO。</a:t>
            </a: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192334"/>
                </a:solidFill>
                <a:latin typeface="Noto Sans CJK SC"/>
              </a:rPr>
              <a:t>再看策略行为（是否随天气切换），排除“一直开一个”或“按顺序轮换”。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39112"/>
            <a:ext cx="228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566273"/>
                </a:solidFill>
                <a:latin typeface="Noto Sans CJK SC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039112"/>
            <a:ext cx="2286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566273"/>
                </a:solidFill>
                <a:latin typeface="Noto Sans CJK S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749039"/>
            <a:ext cx="11109960" cy="109728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04487"/>
            <a:ext cx="10058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27735E"/>
                </a:solidFill>
                <a:latin typeface="Noto Sans CJK SC"/>
              </a:rPr>
              <a:t>通俗类比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886200"/>
            <a:ext cx="93268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0">
                <a:solidFill>
                  <a:srgbClr val="192334"/>
                </a:solidFill>
                <a:latin typeface="Noto Sans CJK SC"/>
              </a:rPr>
              <a:t>旧实验像“桌上摆多台仪器，看哪个组合好”（固定组合可能已经足够好）；新实验像“野外站电量有限”，基础气象常开，专家仪器只能按天气启用一台。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4407408"/>
            <a:ext cx="932688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1">
                <a:solidFill>
                  <a:srgbClr val="203A43"/>
                </a:solidFill>
                <a:latin typeface="Noto Sans CJK SC"/>
              </a:rPr>
              <a:t>因此这轮结果回答的是：模型能不能根据天气状态，决定今天该启用激光、FC4，还是表面红外。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138928"/>
            <a:ext cx="3456432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276088"/>
            <a:ext cx="1234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7735E"/>
                </a:solidFill>
                <a:latin typeface="Noto Sans CJK SC"/>
              </a:rPr>
              <a:t>24/24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5239512"/>
            <a:ext cx="1865376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192334"/>
                </a:solidFill>
                <a:latin typeface="Noto Sans CJK SC"/>
              </a:rPr>
              <a:t>重复实验都保持正向优势</a:t>
            </a:r>
          </a:p>
          <a:p>
            <a:pPr algn="l">
              <a:lnSpc>
                <a:spcPct val="105000"/>
              </a:lnSpc>
            </a:pPr>
            <a:r>
              <a:rPr sz="1030" b="0">
                <a:solidFill>
                  <a:srgbClr val="192334"/>
                </a:solidFill>
                <a:latin typeface="Noto Sans CJK SC"/>
              </a:rPr>
              <a:t>（不是某一个随机种子好看）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42232" y="5138928"/>
            <a:ext cx="3456432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5276088"/>
            <a:ext cx="1234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7735E"/>
                </a:solidFill>
                <a:latin typeface="Noto Sans CJK SC"/>
              </a:rPr>
              <a:t>+0.1494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5544" y="5239512"/>
            <a:ext cx="1865376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192334"/>
                </a:solidFill>
                <a:latin typeface="Noto Sans CJK SC"/>
              </a:rPr>
              <a:t>逐时预测误差优势</a:t>
            </a:r>
          </a:p>
          <a:p>
            <a:pPr algn="l">
              <a:lnSpc>
                <a:spcPct val="105000"/>
              </a:lnSpc>
            </a:pPr>
            <a:r>
              <a:rPr sz="1030" b="0">
                <a:solidFill>
                  <a:srgbClr val="192334"/>
                </a:solidFill>
                <a:latin typeface="Noto Sans CJK SC"/>
              </a:rPr>
              <a:t>（正数表示 PD-PPO 更准）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72983" y="5138928"/>
            <a:ext cx="3456432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74152" y="5276088"/>
            <a:ext cx="1234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7735E"/>
                </a:solidFill>
                <a:latin typeface="Noto Sans CJK SC"/>
              </a:rPr>
              <a:t>+0.0710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5239512"/>
            <a:ext cx="1865376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30" b="0">
                <a:solidFill>
                  <a:srgbClr val="192334"/>
                </a:solidFill>
                <a:latin typeface="Noto Sans CJK SC"/>
              </a:rPr>
              <a:t>按事件分开算后仍有优势</a:t>
            </a:r>
          </a:p>
          <a:p>
            <a:pPr algn="l">
              <a:lnSpc>
                <a:spcPct val="105000"/>
              </a:lnSpc>
            </a:pPr>
            <a:r>
              <a:rPr sz="1030" b="0">
                <a:solidFill>
                  <a:srgbClr val="192334"/>
                </a:solidFill>
                <a:latin typeface="Noto Sans CJK SC"/>
              </a:rPr>
              <a:t>（避免常见天气掩盖少见事件）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43891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66273"/>
                </a:solidFill>
                <a:latin typeface="Noto Sans CJK SC"/>
              </a:rPr>
              <a:t>PD-PPO 实验更新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03A43"/>
                </a:solidFill>
                <a:latin typeface="Noto Sans CJK SC"/>
              </a:rPr>
              <a:t>新结果：不是单次运气，而是 24 次重复都站得住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155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66273"/>
                </a:solidFill>
                <a:latin typeface="Noto Sans CJK SC"/>
              </a:rPr>
              <a:t>本页聚焦稳定性：每个点对应一轮独立重复实验；数值为正表示 PD-PPO 预测更准。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11018520" cy="3182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in_24seed_lef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388" y="1234440"/>
            <a:ext cx="3550879" cy="2788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3941063"/>
            <a:ext cx="72237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566273"/>
                </a:solidFill>
                <a:latin typeface="Noto Sans CJK SC"/>
              </a:rPr>
              <a:t>图的要点：24 次重复的主要优势均为正；不是少数异常 seed 把平均值拉高。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6448" y="1335024"/>
            <a:ext cx="2697480" cy="658368"/>
          </a:xfrm>
          <a:prstGeom prst="roundRect">
            <a:avLst/>
          </a:prstGeom>
          <a:solidFill>
            <a:srgbClr val="DDEFE7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481328"/>
            <a:ext cx="23317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7735E"/>
                </a:solidFill>
                <a:latin typeface="Noto Sans CJK SC"/>
              </a:rPr>
              <a:t>24 个点均为正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737360"/>
            <a:ext cx="233172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66273"/>
                </a:solidFill>
                <a:latin typeface="Noto Sans CJK SC"/>
              </a:rPr>
              <a:t>每个点是一轮独立重复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2212848"/>
            <a:ext cx="2697480" cy="658368"/>
          </a:xfrm>
          <a:prstGeom prst="roundRect">
            <a:avLst/>
          </a:prstGeom>
          <a:solidFill>
            <a:srgbClr val="F5E1D2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359152"/>
            <a:ext cx="23317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B85F35"/>
                </a:solidFill>
                <a:latin typeface="Noto Sans CJK SC"/>
              </a:rPr>
              <a:t>最小优势仍为正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15184"/>
            <a:ext cx="233172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66273"/>
                </a:solidFill>
                <a:latin typeface="Noto Sans CJK SC"/>
              </a:rPr>
              <a:t>避免只报平均值好看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3090672"/>
            <a:ext cx="2697480" cy="658368"/>
          </a:xfrm>
          <a:prstGeom prst="roundRect">
            <a:avLst/>
          </a:prstGeom>
          <a:solidFill>
            <a:srgbClr val="E2EEF4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236976"/>
            <a:ext cx="23317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46E91"/>
                </a:solidFill>
                <a:latin typeface="Noto Sans CJK SC"/>
              </a:rPr>
              <a:t>固定对照被锁死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93008"/>
            <a:ext cx="233172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66273"/>
                </a:solidFill>
                <a:latin typeface="Noto Sans CJK SC"/>
              </a:rPr>
              <a:t>测试时不允许隐式轮换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572000"/>
            <a:ext cx="3456432" cy="960120"/>
          </a:xfrm>
          <a:prstGeom prst="roundRect">
            <a:avLst/>
          </a:prstGeom>
          <a:solidFill>
            <a:srgbClr val="DDEFE7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709160"/>
            <a:ext cx="13716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60" b="1">
                <a:solidFill>
                  <a:srgbClr val="27735E"/>
                </a:solidFill>
                <a:latin typeface="Noto Sans CJK SC"/>
              </a:rPr>
              <a:t>稳定性结论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992624"/>
            <a:ext cx="3054096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192334"/>
                </a:solidFill>
                <a:latin typeface="Noto Sans CJK SC"/>
              </a:rPr>
              <a:t>PD-PPO 全部 24 次重复实验都优于主要对照（固定方案、人工规则）。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4572000"/>
            <a:ext cx="3456432" cy="960120"/>
          </a:xfrm>
          <a:prstGeom prst="roundRect">
            <a:avLst/>
          </a:prstGeom>
          <a:solidFill>
            <a:srgbClr val="F5E1D2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4709160"/>
            <a:ext cx="13716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60" b="1">
                <a:solidFill>
                  <a:srgbClr val="B85F35"/>
                </a:solidFill>
                <a:latin typeface="Noto Sans CJK SC"/>
              </a:rPr>
              <a:t>排除隐式切换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4992624"/>
            <a:ext cx="3054096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192334"/>
                </a:solidFill>
                <a:latin typeface="Noto Sans CJK SC"/>
              </a:rPr>
              <a:t>固定方案全程同一组传感器，不能在测试时变成轮换策略。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19" y="4572000"/>
            <a:ext cx="3456432" cy="960120"/>
          </a:xfrm>
          <a:prstGeom prst="roundRect">
            <a:avLst/>
          </a:prstGeom>
          <a:solidFill>
            <a:srgbClr val="E2EEF4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4709160"/>
            <a:ext cx="13716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60" b="1">
                <a:solidFill>
                  <a:srgbClr val="346E91"/>
                </a:solidFill>
                <a:latin typeface="Noto Sans CJK SC"/>
              </a:rPr>
              <a:t>关键数值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1" y="4992624"/>
            <a:ext cx="3054096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192334"/>
                </a:solidFill>
                <a:latin typeface="Noto Sans CJK SC"/>
              </a:rPr>
              <a:t>平均优势 0.1494；相对真正固定方案平均优势 0.0769（最小仍为正）。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715000"/>
            <a:ext cx="11018520" cy="43891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788152"/>
            <a:ext cx="1028700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60" b="0">
                <a:solidFill>
                  <a:srgbClr val="192334"/>
                </a:solidFill>
                <a:latin typeface="Noto Sans CJK SC"/>
              </a:rPr>
              <a:t>推荐口径：不是证明“普通 PPO 普遍最强”；更准确地说，是证明在低功耗、专家仪器互斥的预测任务里，强化学习能稳定把有限电量分给更有用的仪器。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43891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66273"/>
                </a:solidFill>
                <a:latin typeface="Noto Sans CJK SC"/>
              </a:rPr>
              <a:t>PD-PPO 实验更新 · 2026-07-01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96926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03A43"/>
                </a:solidFill>
                <a:latin typeface="Noto Sans CJK SC"/>
              </a:rPr>
              <a:t>行为证据：模型确实在按天气换专家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49808"/>
            <a:ext cx="11155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66273"/>
                </a:solidFill>
                <a:latin typeface="Noto Sans CJK SC"/>
              </a:rPr>
              <a:t>比单纯报误差更关键的是：它有没有学到符合物理直觉的开关方式。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6419088" cy="3456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havior_heatmap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255" y="1261872"/>
            <a:ext cx="3125505" cy="2944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160520"/>
            <a:ext cx="585216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0">
                <a:solidFill>
                  <a:srgbClr val="566273"/>
                </a:solidFill>
                <a:latin typeface="Noto Sans CJK SC"/>
              </a:rPr>
              <a:t>左图看选择频率：颜色越深，表示该天气下越常开这台仪器。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097280"/>
            <a:ext cx="4407408" cy="877824"/>
          </a:xfrm>
          <a:prstGeom prst="roundRect">
            <a:avLst/>
          </a:prstGeom>
          <a:solidFill>
            <a:srgbClr val="F5E1D2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42048" y="1216152"/>
            <a:ext cx="13258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B85F35"/>
                </a:solidFill>
                <a:latin typeface="Noto Sans CJK SC"/>
              </a:rPr>
              <a:t>不是固定启用同一台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207007"/>
            <a:ext cx="276148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0">
                <a:solidFill>
                  <a:srgbClr val="192334"/>
                </a:solidFill>
                <a:latin typeface="Noto Sans CJK SC"/>
              </a:rPr>
              <a:t>如果只是固定方案，三类天气下会反复选同一台仪器。现在不是这样。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194560"/>
            <a:ext cx="4407408" cy="877824"/>
          </a:xfrm>
          <a:prstGeom prst="roundRect">
            <a:avLst/>
          </a:prstGeom>
          <a:solidFill>
            <a:srgbClr val="DDEFE7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42048" y="2313432"/>
            <a:ext cx="13258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7735E"/>
                </a:solidFill>
                <a:latin typeface="Noto Sans CJK SC"/>
              </a:rPr>
              <a:t>选择模式符合物理直觉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04288"/>
            <a:ext cx="276148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0">
                <a:solidFill>
                  <a:srgbClr val="192334"/>
                </a:solidFill>
                <a:latin typeface="Noto Sans CJK SC"/>
              </a:rPr>
              <a:t>粒子→激光：看颗粒；通量→FC4：看吹雪通量；热状态→表面红外：看地表热。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3291839"/>
            <a:ext cx="4407408" cy="877824"/>
          </a:xfrm>
          <a:prstGeom prst="roundRect">
            <a:avLst/>
          </a:prstGeom>
          <a:solidFill>
            <a:srgbClr val="E2EEF4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3410711"/>
            <a:ext cx="132588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46E91"/>
                </a:solidFill>
                <a:latin typeface="Noto Sans CJK SC"/>
              </a:rPr>
              <a:t>消融检查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401568"/>
            <a:ext cx="2761488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0">
                <a:solidFill>
                  <a:srgbClr val="192334"/>
                </a:solidFill>
                <a:latin typeface="Noto Sans CJK SC"/>
              </a:rPr>
              <a:t>去掉事件状态信息后，严格固定对照从 24/24 降到 21/24（稳定性下降）。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873752"/>
            <a:ext cx="11036808" cy="84124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E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010912"/>
            <a:ext cx="16002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1">
                <a:solidFill>
                  <a:srgbClr val="203A43"/>
                </a:solidFill>
                <a:latin typeface="Noto Sans CJK SC"/>
              </a:rPr>
              <a:t>可直接汇报的一句话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6272" y="4974336"/>
            <a:ext cx="888796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0">
                <a:solidFill>
                  <a:srgbClr val="192334"/>
                </a:solidFill>
                <a:latin typeface="Noto Sans CJK SC"/>
              </a:rPr>
              <a:t>当前实验更接近真实低功耗站：基础气象常开，高功耗专家仪器按天气事件轮流启用。结果显示，PD-PPO 不只是降低误差，还学到和物理事件对应的开关策略。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925312"/>
            <a:ext cx="106070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40" b="0">
                <a:solidFill>
                  <a:srgbClr val="566273"/>
                </a:solidFill>
                <a:latin typeface="Noto Sans CJK SC"/>
              </a:rPr>
              <a:t>适用边界：结论限于当前微气候仿真和这一类“专家仪器预算调度”问题；不外推为所有传感器调度都普遍最优。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4389120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66273"/>
                </a:solidFill>
                <a:latin typeface="Noto Sans CJK SC"/>
              </a:rPr>
              <a:t>PD-PPO 实验更新 · 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PD-PPO 实验更新导师简报</dc:title>
  <dc:subject>Plain-language supervisor update for 2026-07-01 PD-PPO experiment mainline</dc:subject>
  <dc:creator>Hermes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